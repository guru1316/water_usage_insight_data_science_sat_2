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92440" y="685800"/>
            <a:ext cx="3337560" cy="1078992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686800" y="1938528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1B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35240" y="2633472"/>
            <a:ext cx="3794760" cy="256032"/>
          </a:xfrm>
          <a:prstGeom prst="rect">
            <a:avLst/>
          </a:prstGeom>
          <a:solidFill>
            <a:srgbClr val="EBB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66760" y="3127248"/>
            <a:ext cx="3063240" cy="685800"/>
          </a:xfrm>
          <a:prstGeom prst="roundRect">
            <a:avLst>
              <a:gd name="adj" fmla="val 12000"/>
            </a:avLst>
          </a:prstGeom>
          <a:solidFill>
            <a:srgbClr val="325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94944"/>
            <a:ext cx="6217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BFE8DE"/>
                </a:solidFill>
                <a:latin typeface="Aptos"/>
              </a:defRPr>
            </a:pPr>
            <a:r>
              <a:t>AQUATRACK UTILITIES  •  SUSTAINABILITY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667512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t>WATER USAGE</a:t>
            </a:r>
          </a:p>
          <a:p>
            <a:pPr algn="l">
              <a:spcAft>
                <a:spcPts val="500"/>
              </a:spcAft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54680"/>
            <a:ext cx="6400800" cy="14357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DAE6EF"/>
                </a:solidFill>
                <a:latin typeface="Aptos"/>
              </a:defRPr>
            </a:pPr>
            <a:r>
              <a:rPr dirty="0"/>
              <a:t>Understand usage. Detect unusual patterns.</a:t>
            </a:r>
          </a:p>
          <a:p>
            <a:pPr algn="l">
              <a:spcAft>
                <a:spcPts val="500"/>
              </a:spcAft>
              <a:defRPr sz="1900" b="0" i="0">
                <a:solidFill>
                  <a:srgbClr val="DAE6EF"/>
                </a:solidFill>
                <a:latin typeface="Aptos"/>
              </a:defRPr>
            </a:pPr>
            <a:r>
              <a:rPr dirty="0"/>
              <a:t>Make conservation decisions with better evidence.</a:t>
            </a:r>
            <a:endParaRPr lang="en-US" dirty="0"/>
          </a:p>
          <a:p>
            <a:pPr algn="l">
              <a:spcAft>
                <a:spcPts val="500"/>
              </a:spcAft>
              <a:defRPr sz="1900" b="0" i="0">
                <a:solidFill>
                  <a:srgbClr val="DAE6EF"/>
                </a:solidFill>
                <a:latin typeface="Aptos"/>
              </a:defRPr>
            </a:pPr>
            <a:endParaRPr lang="en-US" dirty="0"/>
          </a:p>
          <a:p>
            <a:pPr algn="l">
              <a:spcAft>
                <a:spcPts val="500"/>
              </a:spcAft>
              <a:defRPr sz="1900" b="0" i="0">
                <a:solidFill>
                  <a:srgbClr val="DAE6EF"/>
                </a:solidFill>
                <a:latin typeface="Aptos"/>
              </a:defRPr>
            </a:pPr>
            <a:r>
              <a:rPr lang="en-US" dirty="0"/>
              <a:t>- By Guruprasad K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749808" y="4919472"/>
            <a:ext cx="5257800" cy="36576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5230368"/>
            <a:ext cx="6400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Business Insights Pitch  |  Data Science — DS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705856"/>
            <a:ext cx="6126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BFE8DE"/>
                </a:solidFill>
                <a:latin typeface="Aptos"/>
              </a:defRPr>
            </a:pPr>
            <a:r>
              <a:t>Synthetic academic dataset • January–June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BFE8D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2742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188B89"/>
                </a:solidFill>
                <a:latin typeface="Aptos"/>
              </a:defRPr>
            </a:pPr>
            <a:r>
              <a:t>THE STORY IN FOUR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991088" cy="32004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81328"/>
            <a:ext cx="260604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481328"/>
            <a:ext cx="73152" cy="1225296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36776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88B89"/>
                </a:solidFill>
                <a:latin typeface="Aptos"/>
              </a:defRPr>
            </a:pPr>
            <a:r>
              <a:t>TOTAL RECORDED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2240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22742"/>
                </a:solidFill>
                <a:latin typeface="Aptos"/>
              </a:defRPr>
            </a:pPr>
            <a:r>
              <a:t>16,535.7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81328"/>
            <a:ext cx="260604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1568" y="1481328"/>
            <a:ext cx="73152" cy="1225296"/>
          </a:xfrm>
          <a:prstGeom prst="rect">
            <a:avLst/>
          </a:prstGeom>
          <a:solidFill>
            <a:srgbClr val="EBB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2736" y="1636776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EBB349"/>
                </a:solidFill>
                <a:latin typeface="Aptos"/>
              </a:defRPr>
            </a:pPr>
            <a:r>
              <a:t>HIGHEST LOCALITY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1965960"/>
            <a:ext cx="2240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22742"/>
                </a:solidFill>
                <a:latin typeface="Aptos"/>
              </a:defRPr>
            </a:pPr>
            <a:r>
              <a:t>Lakewood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295144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5,885.5 m³ recorded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481328"/>
            <a:ext cx="260604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1344" y="1481328"/>
            <a:ext cx="73152" cy="1225296"/>
          </a:xfrm>
          <a:prstGeom prst="rect">
            <a:avLst/>
          </a:prstGeom>
          <a:solidFill>
            <a:srgbClr val="C55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636776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C55B59"/>
                </a:solidFill>
                <a:latin typeface="Aptos"/>
              </a:defRPr>
            </a:pPr>
            <a:r>
              <a:t>FLAGGED READINGS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965960"/>
            <a:ext cx="2240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22742"/>
                </a:solidFill>
                <a:latin typeface="Aptos"/>
              </a:defRPr>
            </a:pPr>
            <a:r>
              <a:t>36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295144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Screening signal, not proof of a leak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481328"/>
            <a:ext cx="260604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1481328"/>
            <a:ext cx="73152" cy="1225296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1636776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88B89"/>
                </a:solidFill>
                <a:latin typeface="Aptos"/>
              </a:defRPr>
            </a:pPr>
            <a:r>
              <a:t>PEAK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1965960"/>
            <a:ext cx="2240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22742"/>
                </a:solidFill>
                <a:latin typeface="Aptos"/>
              </a:defRPr>
            </a:pPr>
            <a:r>
              <a:t>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295144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2,978.5 m³ recorded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063240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900" b="1" i="0">
                <a:solidFill>
                  <a:srgbClr val="122742"/>
                </a:solidFill>
                <a:latin typeface="Aptos"/>
              </a:defRPr>
            </a:pPr>
            <a:r>
              <a:t>What the data suggests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648456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" y="3547872"/>
            <a:ext cx="528523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Lakewood is the best starting point for a consumption review.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197096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4096511"/>
            <a:ext cx="528523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Commercial connections account for the larger recorded total.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745736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" y="4645151"/>
            <a:ext cx="5285232" cy="6766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Thirty-six unusual readings deserve a human review; they are not confirmed leaks.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5577840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" y="5477255"/>
            <a:ext cx="5285232" cy="6766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Average usage was lower in the post-repair windows for all five matched repairs.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56832" y="3090672"/>
            <a:ext cx="4892040" cy="2423160"/>
          </a:xfrm>
          <a:prstGeom prst="roundRect">
            <a:avLst>
              <a:gd name="adj" fmla="val 12000"/>
            </a:avLst>
          </a:prstGeom>
          <a:solidFill>
            <a:srgbClr val="12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67728" y="3401568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BFE8DE"/>
                </a:solidFill>
                <a:latin typeface="Aptos"/>
              </a:defRPr>
            </a:pPr>
            <a:r>
              <a:t>DECISION REQUESTED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3840480"/>
            <a:ext cx="3977639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400" b="1" i="0">
                <a:solidFill>
                  <a:srgbClr val="FFFFFF"/>
                </a:solidFill>
                <a:latin typeface="Aptos"/>
              </a:defRPr>
            </a:pPr>
            <a:r>
              <a:t>Approve a small, monitored inspection and conservation pilot.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965192"/>
            <a:ext cx="3931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CE6EF"/>
                </a:solidFill>
                <a:latin typeface="Aptos"/>
              </a:defRPr>
            </a:pPr>
            <a:r>
              <a:t>Validate these findings against real utility records before operational use.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Synthetic academic dataset • Jan–Jun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2742"/>
                </a:solidFill>
                <a:latin typeface="Aptos"/>
              </a:defRPr>
            </a:pPr>
            <a:r>
              <a:t>The question and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188B89"/>
                </a:solidFill>
                <a:latin typeface="Aptos"/>
              </a:defRPr>
            </a:pPr>
            <a:r>
              <a:t>WHAT WAS ANALYSED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991088" cy="32004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5166360" cy="1298448"/>
          </a:xfrm>
          <a:prstGeom prst="roundRect">
            <a:avLst>
              <a:gd name="adj" fmla="val 12000"/>
            </a:avLst>
          </a:prstGeom>
          <a:solidFill>
            <a:srgbClr val="12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46504"/>
            <a:ext cx="4389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BFE8DE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57400"/>
            <a:ext cx="443484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FFFFFF"/>
                </a:solidFill>
                <a:latin typeface="Aptos"/>
              </a:defRPr>
            </a:pPr>
            <a:r>
              <a:t>Which usage patterns may indicate unusual or inefficient water use?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27248"/>
            <a:ext cx="4114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122742"/>
                </a:solidFill>
                <a:latin typeface="Aptos"/>
              </a:defRPr>
            </a:pPr>
            <a:r>
              <a:t>Source datasets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639312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3538728"/>
            <a:ext cx="459943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Meter readings: 10,793 source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187952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4087368"/>
            <a:ext cx="459943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Connections: 60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736592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4636007"/>
            <a:ext cx="459943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Billing: 360 billing-cycle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285231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5184647"/>
            <a:ext cx="459943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Weather: 181 daily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833871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5733287"/>
            <a:ext cx="459943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Maintenance: 6 records, including one unmatched connection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1609344"/>
            <a:ext cx="4297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122742"/>
                </a:solidFill>
                <a:latin typeface="Aptos"/>
              </a:defRPr>
            </a:pPr>
            <a:r>
              <a:t>Analysis approach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176272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7376" y="2075688"/>
            <a:ext cx="478231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Standardize connection IDs, category labels and dates.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2724912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37376" y="2624328"/>
            <a:ext cx="4782312" cy="6766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Check duplicates, missing values, negative readings and unmatched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557016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7376" y="3456432"/>
            <a:ext cx="478231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Combine meter, connection and daily weather information.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105656"/>
            <a:ext cx="91440" cy="91440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4005072"/>
            <a:ext cx="4782312" cy="6766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Create monthly summaries, anomaly flags and repair-window comparisons.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5074920"/>
            <a:ext cx="22402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5074920"/>
            <a:ext cx="73152" cy="822960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7" y="5230368"/>
            <a:ext cx="1874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88B89"/>
                </a:solidFill>
                <a:latin typeface="Aptos"/>
              </a:defRPr>
            </a:pPr>
            <a:r>
              <a:t>ANALYSIS WINDOW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5559552"/>
            <a:ext cx="1874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122742"/>
                </a:solidFill>
                <a:latin typeface="Aptos"/>
              </a:defRPr>
            </a:pPr>
            <a:r>
              <a:t>Jan–Jun 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5074920"/>
            <a:ext cx="22402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32520" y="5074920"/>
            <a:ext cx="73152" cy="822960"/>
          </a:xfrm>
          <a:prstGeom prst="rect">
            <a:avLst/>
          </a:prstGeom>
          <a:solidFill>
            <a:srgbClr val="EBB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33688" y="5230368"/>
            <a:ext cx="1874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EBB349"/>
                </a:solidFill>
                <a:latin typeface="Aptos"/>
              </a:defRPr>
            </a:pPr>
            <a:r>
              <a:t>INTEGRATED 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3688" y="5559552"/>
            <a:ext cx="1874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900" b="1" i="0">
                <a:solidFill>
                  <a:srgbClr val="122742"/>
                </a:solidFill>
                <a:latin typeface="Aptos"/>
              </a:defRPr>
            </a:pPr>
            <a:r>
              <a:t>10,742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Data is synthetic and intended for assessment demonstration.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2742"/>
                </a:solidFill>
                <a:latin typeface="Aptos"/>
              </a:defRPr>
            </a:pPr>
            <a:r>
              <a:t>Preparation and predictive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188B89"/>
                </a:solidFill>
                <a:latin typeface="Aptos"/>
              </a:defRPr>
            </a:pPr>
            <a:r>
              <a:t>METHODS USED TO SUPPORT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991088" cy="32004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36192"/>
            <a:ext cx="3273552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773936"/>
            <a:ext cx="2834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188B89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76272"/>
            <a:ext cx="2816352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7384B"/>
                </a:solidFill>
                <a:latin typeface="Aptos"/>
              </a:defRPr>
            </a:pPr>
            <a:r>
              <a:t>18 duplicate meter rows removed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7384B"/>
                </a:solidFill>
                <a:latin typeface="Aptos"/>
              </a:defRPr>
            </a:pPr>
            <a:r>
              <a:t>33 invalid/missing usage rows excluded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7384B"/>
                </a:solidFill>
                <a:latin typeface="Aptos"/>
              </a:defRPr>
            </a:pPr>
            <a:r>
              <a:t>Connection labels standardized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36192"/>
            <a:ext cx="3273552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9976" y="1773936"/>
            <a:ext cx="2834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EBB349"/>
                </a:solidFill>
                <a:latin typeface="Aptos"/>
              </a:defRPr>
            </a:pPr>
            <a:r>
              <a:t>ENGINEERED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176272"/>
            <a:ext cx="2816352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7384B"/>
                </a:solidFill>
                <a:latin typeface="Aptos"/>
              </a:defRPr>
            </a:pPr>
            <a:r>
              <a:t>Month and weekday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7384B"/>
                </a:solidFill>
                <a:latin typeface="Aptos"/>
              </a:defRPr>
            </a:pPr>
            <a:r>
              <a:t>Days from repair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7384B"/>
                </a:solidFill>
                <a:latin typeface="Aptos"/>
              </a:defRPr>
            </a:pPr>
            <a:r>
              <a:t>Connection-level usage baseline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7384B"/>
                </a:solidFill>
                <a:latin typeface="Aptos"/>
              </a:defRPr>
            </a:pPr>
            <a:r>
              <a:t>Temperature and rainfall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536192"/>
            <a:ext cx="3273552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18704" y="1773936"/>
            <a:ext cx="2834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C55B59"/>
                </a:solidFill>
                <a:latin typeface="Aptos"/>
              </a:defRPr>
            </a:pPr>
            <a:r>
              <a:t>ANOMALY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704" y="2176272"/>
            <a:ext cx="2816352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7384B"/>
                </a:solidFill>
                <a:latin typeface="Aptos"/>
              </a:defRPr>
            </a:pPr>
            <a:r>
              <a:t>36 unusually high readings flagged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7384B"/>
                </a:solidFill>
                <a:latin typeface="Aptos"/>
              </a:defRPr>
            </a:pPr>
            <a:r>
              <a:t>Used to prioritize human review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7384B"/>
                </a:solidFill>
                <a:latin typeface="Aptos"/>
              </a:defRPr>
            </a:pPr>
            <a:r>
              <a:t>Not an automatic leak 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4114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900" b="1" i="0">
                <a:solidFill>
                  <a:srgbClr val="122742"/>
                </a:solidFill>
                <a:latin typeface="Aptos"/>
              </a:defRPr>
            </a:pPr>
            <a:r>
              <a:t>Predictive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270248"/>
            <a:ext cx="6492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27384B"/>
                </a:solidFill>
                <a:latin typeface="Aptos"/>
              </a:defRPr>
            </a:pPr>
            <a:r>
              <a:t>Algorithm: Random Forest Regressor  •  Target: daily water usage (m³)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681728"/>
            <a:ext cx="64465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Inputs included connection type, locality, household-size band, temperature, rainfall, month and weekday. An 80/20 random train/test split was used.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822191"/>
            <a:ext cx="126187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3822191"/>
            <a:ext cx="73152" cy="1115568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53528" y="3977639"/>
            <a:ext cx="896111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88B89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4306824"/>
            <a:ext cx="896111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122742"/>
                </a:solidFill>
                <a:latin typeface="Aptos"/>
              </a:defRPr>
            </a:pPr>
            <a:r>
              <a:t>0.309 m³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3822191"/>
            <a:ext cx="126187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87968" y="3822191"/>
            <a:ext cx="73152" cy="1115568"/>
          </a:xfrm>
          <a:prstGeom prst="rect">
            <a:avLst/>
          </a:prstGeom>
          <a:solidFill>
            <a:srgbClr val="EBB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89136" y="3977639"/>
            <a:ext cx="896111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EBB349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4306824"/>
            <a:ext cx="896111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122742"/>
                </a:solidFill>
                <a:latin typeface="Aptos"/>
              </a:defRPr>
            </a:pPr>
            <a:r>
              <a:t>0.746 m³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23576" y="3822191"/>
            <a:ext cx="126187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323576" y="3822191"/>
            <a:ext cx="73152" cy="1115568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24744" y="3977639"/>
            <a:ext cx="896111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88B89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24744" y="4306824"/>
            <a:ext cx="896111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2742"/>
                </a:solidFill>
                <a:latin typeface="Aptos"/>
              </a:defRPr>
            </a:pPr>
            <a:r>
              <a:t>0.829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5166360"/>
            <a:ext cx="40233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0" i="1">
                <a:solidFill>
                  <a:srgbClr val="667787"/>
                </a:solidFill>
                <a:latin typeface="Aptos"/>
              </a:defRPr>
            </a:pPr>
            <a:r>
              <a:t>These are exploratory baseline results on synthetic data. Validate on a future time period before deployment.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Model metrics reported in the supplied presentation's Round 3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2742"/>
                </a:solidFill>
                <a:latin typeface="Aptos"/>
              </a:defRPr>
            </a:pPr>
            <a:r>
              <a:t>Finding 1 — Usage differs by locality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188B89"/>
                </a:solidFill>
                <a:latin typeface="Aptos"/>
              </a:defRPr>
            </a:pPr>
            <a:r>
              <a:t>WHERE TO START THE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991088" cy="32004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6" name="Picture 5" descr="loc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90472"/>
            <a:ext cx="71780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56448" y="164592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181051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88B89"/>
                </a:solidFill>
                <a:latin typeface="Aptos"/>
              </a:defRPr>
            </a:pPr>
            <a:r>
              <a:t>HIGHEST RECORDED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08483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Lakewood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47802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5,885.5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292608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309067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EBB349"/>
                </a:solidFill>
                <a:latin typeface="Aptos"/>
              </a:defRPr>
            </a:pPr>
            <a:r>
              <a:t>LOWEST RECORDED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36499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Northview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75818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382.0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370832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22742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4736592"/>
            <a:ext cx="283464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Use locality totals to prioritize meter audits, conservation outreach and follow-up checks.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Totals also depend on the number of connections and readings in each locality.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2742"/>
                </a:solidFill>
                <a:latin typeface="Aptos"/>
              </a:defRPr>
            </a:pPr>
            <a:r>
              <a:t>Finding 2 — Commercial usage is higher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188B89"/>
                </a:solidFill>
                <a:latin typeface="Aptos"/>
              </a:defRPr>
            </a:pPr>
            <a:r>
              <a:t>COMPARE TOTALS AND TYPICAL READINGS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991088" cy="32004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6" name="Picture 5" descr="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90472"/>
            <a:ext cx="71780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56448" y="164592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181051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EBB349"/>
                </a:solidFill>
                <a:latin typeface="Aptos"/>
              </a:defRPr>
            </a:pPr>
            <a:r>
              <a:t>COMMERCIAL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08483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10,810.9 m³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47802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Mean reading: 4.31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292608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309067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88B89"/>
                </a:solidFill>
                <a:latin typeface="Aptos"/>
              </a:defRPr>
            </a:pPr>
            <a:r>
              <a:t>RESIDENTIAL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36499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5,724.8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75818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Mean reading: 0.70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370832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22742"/>
                </a:solidFill>
                <a:latin typeface="Aptos"/>
              </a:defRPr>
            </a:pPr>
            <a:r>
              <a:t>Recommended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4736592"/>
            <a:ext cx="288036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50" b="0" i="0">
                <a:solidFill>
                  <a:srgbClr val="27384B"/>
                </a:solidFill>
                <a:latin typeface="Aptos"/>
              </a:defRPr>
            </a:pPr>
            <a:r>
              <a:t>Review high-use commercial accounts for efficiency opportunities, while comparing accounts fairly by size and usage pattern.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Totals alone do not measure per-customer efficiency.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2742"/>
                </a:solidFill>
                <a:latin typeface="Aptos"/>
              </a:defRPr>
            </a:pPr>
            <a:r>
              <a:t>Finding 3 — Weather links are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188B89"/>
                </a:solidFill>
                <a:latin typeface="Aptos"/>
              </a:defRPr>
            </a:pPr>
            <a:r>
              <a:t>AVOID OVER-INTERPRETING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991088" cy="32004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6" name="Picture 5" descr="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90472"/>
            <a:ext cx="71780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56448" y="164592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181051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88B89"/>
                </a:solidFill>
                <a:latin typeface="Aptos"/>
              </a:defRPr>
            </a:pPr>
            <a:r>
              <a:t>TEMPERATURE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08483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+0.063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47802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Very weak positive linear relationship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292608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309067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EBB349"/>
                </a:solidFill>
                <a:latin typeface="Aptos"/>
              </a:defRPr>
            </a:pPr>
            <a:r>
              <a:t>RAINFALL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36499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−0.025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75818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Very weak negative linear relationship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370832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22742"/>
                </a:solidFill>
                <a:latin typeface="Aptos"/>
              </a:defRPr>
            </a:pPr>
            <a:r>
              <a:t>What to do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4736592"/>
            <a:ext cx="283464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7384B"/>
                </a:solidFill>
                <a:latin typeface="Aptos"/>
              </a:defRPr>
            </a:pPr>
            <a:r>
              <a:t>Collect more seasonal and contextual data before using weather to plan demand.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Correlations describe this generated dataset; they do not establish cause and effect.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2742"/>
                </a:solidFill>
                <a:latin typeface="Aptos"/>
              </a:defRPr>
            </a:pPr>
            <a:r>
              <a:t>Finding 4 — Flagged readings need a closer 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188B89"/>
                </a:solidFill>
                <a:latin typeface="Aptos"/>
              </a:defRPr>
            </a:pPr>
            <a:r>
              <a:t>ANOMALY DOES NOT MEAN CONFIRMED LEAK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991088" cy="32004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6" name="Picture 5" descr="spi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90472"/>
            <a:ext cx="71780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56448" y="164592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181051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C55B59"/>
                </a:solidFill>
                <a:latin typeface="Aptos"/>
              </a:defRPr>
            </a:pPr>
            <a:r>
              <a:t>FLAGGED READINGS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08483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36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47802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Statistical screening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292608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309067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EBB349"/>
                </a:solidFill>
                <a:latin typeface="Aptos"/>
              </a:defRPr>
            </a:pPr>
            <a:r>
              <a:t>FLAGGED USAGE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36499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187.632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75818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Total usage across flagged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370832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22742"/>
                </a:solidFill>
                <a:latin typeface="Aptos"/>
              </a:defRPr>
            </a:pPr>
            <a:r>
              <a:t>Suggested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4736592"/>
            <a:ext cx="2907792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50" b="0" i="0">
                <a:solidFill>
                  <a:srgbClr val="27384B"/>
                </a:solidFill>
                <a:latin typeface="Aptos"/>
              </a:defRPr>
            </a:pPr>
            <a:r>
              <a:t>Check dates, meter history, connection context and leak reports. Prioritize repeated or extreme readings for human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A statistical flag is a screening signal only, not proof of leakage.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2742"/>
                </a:solidFill>
                <a:latin typeface="Aptos"/>
              </a:defRPr>
            </a:pPr>
            <a:r>
              <a:t>Finding 5 — Usage fell after matched repairs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188B89"/>
                </a:solidFill>
                <a:latin typeface="Aptos"/>
              </a:defRPr>
            </a:pPr>
            <a:r>
              <a:t>BEFORE-AND-AFTER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991088" cy="32004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6" name="Picture 5" descr="re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90472"/>
            <a:ext cx="71780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56448" y="164592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181051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88B89"/>
                </a:solidFill>
                <a:latin typeface="Aptos"/>
              </a:defRPr>
            </a:pPr>
            <a:r>
              <a:t>AVERAGE 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08483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0.767 m³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47802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Across matched repair 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292608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309067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EBB349"/>
                </a:solidFill>
                <a:latin typeface="Aptos"/>
              </a:defRPr>
            </a:pPr>
            <a:r>
              <a:t>AVERAGE 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36499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0.591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75818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Across matched repair windows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43434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12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4498848"/>
            <a:ext cx="15087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−23.6%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507992"/>
            <a:ext cx="173736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BFE8DE"/>
                </a:solidFill>
                <a:latin typeface="Aptos"/>
              </a:defRPr>
            </a:pPr>
            <a:r>
              <a:t>Mean percentage change across five repairs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5449824"/>
            <a:ext cx="29260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7384B"/>
                </a:solidFill>
                <a:latin typeface="Aptos"/>
              </a:defRPr>
            </a:pPr>
            <a:r>
              <a:t>The pattern is consistent with lower usage after repair, but it does not prove the repair caused the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Each window compares up to 30 days before and after repair; the repair date is excluded.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2742"/>
                </a:solidFill>
                <a:latin typeface="Aptos"/>
              </a:defRPr>
            </a:pPr>
            <a:r>
              <a:t>Finding 6 — Recorded demand rose toward June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188B89"/>
                </a:solidFill>
                <a:latin typeface="Aptos"/>
              </a:defRPr>
            </a:pPr>
            <a:r>
              <a:t>MONTHLY WATER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991088" cy="32004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6" name="Picture 5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90472"/>
            <a:ext cx="71780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56448" y="164592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181051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EBB349"/>
                </a:solidFill>
                <a:latin typeface="Aptos"/>
              </a:defRPr>
            </a:pPr>
            <a:r>
              <a:t>PEAK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08483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47802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2,978.5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2926080"/>
            <a:ext cx="345643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3090672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88B89"/>
                </a:solidFill>
                <a:latin typeface="Aptos"/>
              </a:defRPr>
            </a:pPr>
            <a:r>
              <a:t>LOWEST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36499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2742"/>
                </a:solidFill>
                <a:latin typeface="Aptos"/>
              </a:defRPr>
            </a:pPr>
            <a:r>
              <a:t>February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758184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2,378.6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370832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22742"/>
                </a:solidFill>
                <a:latin typeface="Aptos"/>
              </a:defRPr>
            </a:pPr>
            <a:r>
              <a:t>Planning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4736592"/>
            <a:ext cx="288036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50" b="0" i="0">
                <a:solidFill>
                  <a:srgbClr val="27384B"/>
                </a:solidFill>
                <a:latin typeface="Aptos"/>
              </a:defRPr>
            </a:pPr>
            <a:r>
              <a:t>Plan meter checks and conservation messages ahead of periods when demand may rise. Confirm the trend with longer-term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850" b="0" i="0">
                <a:solidFill>
                  <a:srgbClr val="667787"/>
                </a:solidFill>
                <a:latin typeface="Aptos"/>
              </a:defRPr>
            </a:pPr>
            <a:r>
              <a:t>The analysis covers six months of synthetic data; it is not a long-term forecast.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Recommendations and 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BFE8DE"/>
                </a:solidFill>
                <a:latin typeface="Aptos"/>
              </a:defRPr>
            </a:pPr>
            <a:r>
              <a:t>A PRACTICAL, LOW-RISK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97864"/>
            <a:ext cx="10991088" cy="32004"/>
          </a:xfrm>
          <a:prstGeom prst="rect">
            <a:avLst/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BFE8D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36192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682495"/>
            <a:ext cx="4754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581912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BFE8DE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1572768"/>
            <a:ext cx="7406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Start with Lakewood and high-use commercial connections.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68296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514600"/>
            <a:ext cx="4754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414015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BFE8DE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404872"/>
            <a:ext cx="7406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Review flagged spikes against meter history, leak reports and maintenance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20040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346704"/>
            <a:ext cx="4754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246120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BFE8DE"/>
                </a:solidFill>
                <a:latin typeface="Aptos"/>
              </a:defRPr>
            </a:pPr>
            <a:r>
              <a:t>Validate repairs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236976"/>
            <a:ext cx="7406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Check whether lower usage persists after maintenance.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032504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178808"/>
            <a:ext cx="4754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078224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BFE8DE"/>
                </a:solidFill>
                <a:latin typeface="Aptos"/>
              </a:defRPr>
            </a:pPr>
            <a:r>
              <a:t>Conserve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069080"/>
            <a:ext cx="7406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Offer tailored conservation guidance to high-use connections and localities.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86460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5010912"/>
            <a:ext cx="47548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910328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BFE8DE"/>
                </a:solidFill>
                <a:latin typeface="Aptos"/>
              </a:defRPr>
            </a:pPr>
            <a:r>
              <a:t>Improve the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901184"/>
            <a:ext cx="7406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Resolve unmatched IDs and collect a longer time series before deployment.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97880"/>
            <a:ext cx="10789920" cy="384048"/>
          </a:xfrm>
          <a:prstGeom prst="roundRect">
            <a:avLst>
              <a:gd name="adj" fmla="val 12000"/>
            </a:avLst>
          </a:prstGeom>
          <a:solidFill>
            <a:srgbClr val="EBB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971032"/>
            <a:ext cx="10332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122742"/>
                </a:solidFill>
                <a:latin typeface="Aptos"/>
              </a:defRPr>
            </a:pPr>
            <a:r>
              <a:t>Decision requested: approve a small, monitored inspection and conservation pilot before scaling.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BFE8D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890</Words>
  <Application>Microsoft Office PowerPoint</Application>
  <PresentationFormat>Widescreen</PresentationFormat>
  <Paragraphs>174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Guruprasad K</cp:lastModifiedBy>
  <cp:revision>2</cp:revision>
  <dcterms:created xsi:type="dcterms:W3CDTF">2013-01-27T09:14:16Z</dcterms:created>
  <dcterms:modified xsi:type="dcterms:W3CDTF">2026-10-12T09:14:22Z</dcterms:modified>
  <cp:category/>
</cp:coreProperties>
</file>